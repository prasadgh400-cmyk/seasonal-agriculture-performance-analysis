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asadgh400-cmyk/Seasonal-Agriculture-Performance-Analysis" TargetMode="Externa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658368" y="640080"/>
            <a:ext cx="708660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Seasonal Agriculture
Performance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1938528"/>
            <a:ext cx="64922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2A7FB8"/>
                </a:solidFill>
                <a:latin typeface="Arial"/>
              </a:rPr>
              <a:t>VOIS AICTE Batch 1  |  Major Project 2026–2027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2359152"/>
            <a:ext cx="772667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>
                <a:solidFill>
                  <a:srgbClr val="434D57"/>
                </a:solidFill>
                <a:latin typeface="Arial"/>
              </a:rPr>
              <a:t>Yield • Profitability • Resource Efficiency • Environmental Conditions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2926080"/>
            <a:ext cx="7909560" cy="1078992"/>
          </a:xfrm>
          <a:prstGeom prst="roundRect">
            <a:avLst/>
          </a:prstGeom>
          <a:solidFill>
            <a:srgbClr val="F3F7F9"/>
          </a:solidFill>
          <a:ln>
            <a:solidFill>
              <a:srgbClr val="F3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3127248"/>
            <a:ext cx="10972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2F9D78"/>
                </a:solidFill>
                <a:latin typeface="Arial"/>
              </a:rPr>
              <a:t>4,000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3474720"/>
            <a:ext cx="126187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6E767E"/>
                </a:solidFill>
                <a:latin typeface="Arial"/>
              </a:rPr>
              <a:t>Farm records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3127248"/>
            <a:ext cx="9144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2A7FB8"/>
                </a:solidFill>
                <a:latin typeface="Arial"/>
              </a:rPr>
              <a:t>28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95728" y="3474720"/>
            <a:ext cx="1243584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6E767E"/>
                </a:solidFill>
                <a:latin typeface="Arial"/>
              </a:rPr>
              <a:t>Variables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33087" y="3127248"/>
            <a:ext cx="9144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E7A83E"/>
                </a:solidFill>
                <a:latin typeface="Arial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68496" y="3474720"/>
            <a:ext cx="1243584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6E767E"/>
                </a:solidFill>
                <a:latin typeface="Arial"/>
              </a:rPr>
              <a:t>Seasons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50992" y="3127248"/>
            <a:ext cx="9144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2F9D78"/>
                </a:solidFill>
                <a:latin typeface="Arial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04688" y="3474720"/>
            <a:ext cx="1207008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6E767E"/>
                </a:solidFill>
                <a:latin typeface="Arial"/>
              </a:rPr>
              <a:t>Crops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68896" y="3127248"/>
            <a:ext cx="9144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2A7FB8"/>
                </a:solidFill>
                <a:latin typeface="Arial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22592" y="3474720"/>
            <a:ext cx="1207008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6E767E"/>
                </a:solidFill>
                <a:latin typeface="Arial"/>
              </a:rPr>
              <a:t>States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4736592"/>
            <a:ext cx="4647662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dirty="0">
                <a:solidFill>
                  <a:srgbClr val="1F2937"/>
                </a:solidFill>
                <a:latin typeface="Arial"/>
              </a:rPr>
              <a:t>Student Name: </a:t>
            </a:r>
            <a:r>
              <a:rPr lang="en-IN" sz="1400" b="1" dirty="0">
                <a:solidFill>
                  <a:srgbClr val="1F2937"/>
                </a:solidFill>
                <a:latin typeface="Arial"/>
              </a:rPr>
              <a:t>SUMANT PRASHANT GHANTEWAR</a:t>
            </a:r>
            <a:endParaRPr sz="1400" b="1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85800" y="5109757"/>
            <a:ext cx="4023360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dirty="0">
                <a:solidFill>
                  <a:srgbClr val="434D57"/>
                </a:solidFill>
                <a:latin typeface="Arial"/>
              </a:rPr>
              <a:t>College Name: </a:t>
            </a:r>
            <a:r>
              <a:rPr lang="en-IN" sz="1300" dirty="0">
                <a:solidFill>
                  <a:srgbClr val="434D57"/>
                </a:solidFill>
                <a:latin typeface="Arial"/>
              </a:rPr>
              <a:t>Central University of Andhra Pradesh</a:t>
            </a:r>
            <a:endParaRPr sz="1300" b="0" dirty="0">
              <a:solidFill>
                <a:srgbClr val="434D57"/>
              </a:solidFill>
              <a:latin typeface="Arial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13232" y="5486400"/>
            <a:ext cx="4023360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300" b="0" dirty="0">
                <a:solidFill>
                  <a:srgbClr val="434D57"/>
                </a:solidFill>
                <a:latin typeface="Arial"/>
              </a:rPr>
              <a:t>AICTE STU ID: </a:t>
            </a:r>
            <a:r>
              <a:rPr lang="en-IN" sz="1300" dirty="0">
                <a:solidFill>
                  <a:srgbClr val="434D57"/>
                </a:solidFill>
                <a:latin typeface="Arial"/>
              </a:rPr>
              <a:t>STU69e4ae330f40d1776594483</a:t>
            </a:r>
            <a:endParaRPr sz="1300" b="0" dirty="0">
              <a:solidFill>
                <a:srgbClr val="434D57"/>
              </a:solidFill>
              <a:latin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613648" y="644652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6E767E"/>
                </a:solidFill>
                <a:latin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58368" y="384048"/>
            <a:ext cx="84582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Problem Statement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969264"/>
            <a:ext cx="960120" cy="64008"/>
          </a:xfrm>
          <a:prstGeom prst="rect">
            <a:avLst/>
          </a:prstGeom>
          <a:solidFill>
            <a:srgbClr val="2F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3232" y="1298448"/>
            <a:ext cx="8046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1554480"/>
            <a:ext cx="2926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2F9D78"/>
                </a:solidFill>
                <a:latin typeface="Arial"/>
              </a:rPr>
              <a:t>Why this analysis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1993392"/>
            <a:ext cx="7269480" cy="22402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434D57"/>
                </a:solidFill>
                <a:latin typeface="Arial"/>
              </a:defRPr>
            </a:pPr>
            <a:r>
              <a:t>• Agricultural performance changes with season, weather, farm practices, resource availability, and market conditions.</a:t>
            </a:r>
          </a:p>
          <a:p>
            <a:pPr>
              <a:spcAft>
                <a:spcPts val="1100"/>
              </a:spcAft>
              <a:defRPr sz="1600">
                <a:solidFill>
                  <a:srgbClr val="434D57"/>
                </a:solidFill>
                <a:latin typeface="Arial"/>
              </a:defRPr>
            </a:pPr>
            <a:r>
              <a:t>• Raw data alone does not clearly reveal how Kharif, Rabi, and Zaid differ in yield, efficiency, risk, and profitability.</a:t>
            </a:r>
          </a:p>
          <a:p>
            <a:pPr>
              <a:spcAft>
                <a:spcPts val="1100"/>
              </a:spcAft>
              <a:defRPr sz="1600">
                <a:solidFill>
                  <a:srgbClr val="434D57"/>
                </a:solidFill>
                <a:latin typeface="Arial"/>
              </a:defRPr>
            </a:pPr>
            <a:r>
              <a:t>• The project analyzes seasonal patterns, relationships, variations, and unusual observations in the supplied agricultural dataset.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" y="4517136"/>
            <a:ext cx="7269480" cy="749808"/>
          </a:xfrm>
          <a:prstGeom prst="roundRect">
            <a:avLst/>
          </a:prstGeom>
          <a:solidFill>
            <a:srgbClr val="F3F7F9"/>
          </a:solidFill>
          <a:ln>
            <a:solidFill>
              <a:srgbClr val="F3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15568" y="4663440"/>
            <a:ext cx="13258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A7FB8"/>
                </a:solidFill>
                <a:latin typeface="Arial"/>
              </a:rPr>
              <a:t>Core 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4590288"/>
            <a:ext cx="565099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How does agricultural performance vary across Kharif, Rabi, and Zaid?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644652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6E767E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58368" y="384048"/>
            <a:ext cx="84582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Project 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969264"/>
            <a:ext cx="960120" cy="64008"/>
          </a:xfrm>
          <a:prstGeom prst="rect">
            <a:avLst/>
          </a:prstGeom>
          <a:solidFill>
            <a:srgbClr val="2F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55648" y="914400"/>
            <a:ext cx="71323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Scope, objectives, and analytical approach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280160"/>
            <a:ext cx="3840480" cy="4526280"/>
          </a:xfrm>
          <a:prstGeom prst="roundRect">
            <a:avLst/>
          </a:prstGeom>
          <a:solidFill>
            <a:srgbClr val="F3F7F9"/>
          </a:solidFill>
          <a:ln>
            <a:solidFill>
              <a:srgbClr val="F3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1517904"/>
            <a:ext cx="20116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2F9D78"/>
                </a:solidFill>
                <a:latin typeface="Arial"/>
              </a:rPr>
              <a:t>Dataset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920240"/>
            <a:ext cx="3246120" cy="21488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434D57"/>
                </a:solidFill>
                <a:latin typeface="Arial"/>
              </a:defRPr>
            </a:pPr>
            <a:r>
              <a:t>• 4,000 farm records × 28 original variables</a:t>
            </a:r>
          </a:p>
          <a:p>
            <a:pPr>
              <a:spcAft>
                <a:spcPts val="900"/>
              </a:spcAft>
              <a:defRPr sz="1400">
                <a:solidFill>
                  <a:srgbClr val="434D57"/>
                </a:solidFill>
                <a:latin typeface="Arial"/>
              </a:defRPr>
            </a:pPr>
            <a:r>
              <a:t>• 3 seasons: Kharif, Rabi, Zaid</a:t>
            </a:r>
          </a:p>
          <a:p>
            <a:pPr>
              <a:spcAft>
                <a:spcPts val="900"/>
              </a:spcAft>
              <a:defRPr sz="1400">
                <a:solidFill>
                  <a:srgbClr val="434D57"/>
                </a:solidFill>
                <a:latin typeface="Arial"/>
              </a:defRPr>
            </a:pPr>
            <a:r>
              <a:t>• 8 crops and 8 states</a:t>
            </a:r>
          </a:p>
          <a:p>
            <a:pPr>
              <a:spcAft>
                <a:spcPts val="900"/>
              </a:spcAft>
              <a:defRPr sz="1400">
                <a:solidFill>
                  <a:srgbClr val="434D57"/>
                </a:solidFill>
                <a:latin typeface="Arial"/>
              </a:defRPr>
            </a:pPr>
            <a:r>
              <a:t>• Environmental, soil, irrigation, input, production, and financial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187952"/>
            <a:ext cx="23774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2A7FB8"/>
                </a:solidFill>
                <a:latin typeface="Arial"/>
              </a:rPr>
              <a:t>Analysis Dimensions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553712"/>
            <a:ext cx="3200400" cy="10515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434D57"/>
                </a:solidFill>
                <a:latin typeface="Arial"/>
              </a:defRPr>
            </a:pPr>
            <a:r>
              <a:t>• Yield &amp; production</a:t>
            </a:r>
          </a:p>
          <a:p>
            <a:pPr>
              <a:spcAft>
                <a:spcPts val="500"/>
              </a:spcAft>
              <a:defRPr sz="1300">
                <a:solidFill>
                  <a:srgbClr val="434D57"/>
                </a:solidFill>
                <a:latin typeface="Arial"/>
              </a:defRPr>
            </a:pPr>
            <a:r>
              <a:t>• Profitability</a:t>
            </a:r>
          </a:p>
          <a:p>
            <a:pPr>
              <a:spcAft>
                <a:spcPts val="500"/>
              </a:spcAft>
              <a:defRPr sz="1300">
                <a:solidFill>
                  <a:srgbClr val="434D57"/>
                </a:solidFill>
                <a:latin typeface="Arial"/>
              </a:defRPr>
            </a:pPr>
            <a:r>
              <a:t>• Water efficiency</a:t>
            </a:r>
          </a:p>
          <a:p>
            <a:pPr>
              <a:spcAft>
                <a:spcPts val="500"/>
              </a:spcAft>
              <a:defRPr sz="1300">
                <a:solidFill>
                  <a:srgbClr val="434D57"/>
                </a:solidFill>
                <a:latin typeface="Arial"/>
              </a:defRPr>
            </a:pPr>
            <a:r>
              <a:t>• Disease/pest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1280160"/>
            <a:ext cx="4023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80" y="1517904"/>
            <a:ext cx="21945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2A7FB8"/>
                </a:solidFill>
                <a:latin typeface="Arial"/>
              </a:rPr>
              <a:t>Project Objectives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1920240"/>
            <a:ext cx="3337560" cy="3017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434D57"/>
                </a:solidFill>
                <a:latin typeface="Arial"/>
              </a:defRPr>
            </a:pPr>
            <a:r>
              <a:t>• Clean and validate the data</a:t>
            </a:r>
          </a:p>
          <a:p>
            <a:pPr>
              <a:spcAft>
                <a:spcPts val="900"/>
              </a:spcAft>
              <a:defRPr sz="1400">
                <a:solidFill>
                  <a:srgbClr val="434D57"/>
                </a:solidFill>
                <a:latin typeface="Arial"/>
              </a:defRPr>
            </a:pPr>
            <a:r>
              <a:t>• Compare seasonal performance</a:t>
            </a:r>
          </a:p>
          <a:p>
            <a:pPr>
              <a:spcAft>
                <a:spcPts val="900"/>
              </a:spcAft>
              <a:defRPr sz="1400">
                <a:solidFill>
                  <a:srgbClr val="434D57"/>
                </a:solidFill>
                <a:latin typeface="Arial"/>
              </a:defRPr>
            </a:pPr>
            <a:r>
              <a:t>• Analyze crop × season combinations</a:t>
            </a:r>
          </a:p>
          <a:p>
            <a:pPr>
              <a:spcAft>
                <a:spcPts val="900"/>
              </a:spcAft>
              <a:defRPr sz="1400">
                <a:solidFill>
                  <a:srgbClr val="434D57"/>
                </a:solidFill>
                <a:latin typeface="Arial"/>
              </a:defRPr>
            </a:pPr>
            <a:r>
              <a:t>• Study irrigation and resource-use patterns</a:t>
            </a:r>
          </a:p>
          <a:p>
            <a:pPr>
              <a:spcAft>
                <a:spcPts val="900"/>
              </a:spcAft>
              <a:defRPr sz="1400">
                <a:solidFill>
                  <a:srgbClr val="434D57"/>
                </a:solidFill>
                <a:latin typeface="Arial"/>
              </a:defRPr>
            </a:pPr>
            <a:r>
              <a:t>• Test seasonal differences statistically</a:t>
            </a:r>
          </a:p>
          <a:p>
            <a:pPr>
              <a:spcAft>
                <a:spcPts val="900"/>
              </a:spcAft>
              <a:defRPr sz="1400">
                <a:solidFill>
                  <a:srgbClr val="434D57"/>
                </a:solidFill>
                <a:latin typeface="Arial"/>
              </a:defRPr>
            </a:pPr>
            <a:r>
              <a:t>• Convert evidence into practical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5093208"/>
            <a:ext cx="3401568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2F9D78"/>
                </a:solidFill>
                <a:latin typeface="Arial"/>
              </a:rPr>
              <a:t>Method: EDA → group comparisons → correlation → Kruskal–Wallis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644652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6E767E"/>
                </a:solidFill>
                <a:latin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58368" y="384048"/>
            <a:ext cx="84582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Who Are the End Users?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969264"/>
            <a:ext cx="960120" cy="64008"/>
          </a:xfrm>
          <a:prstGeom prst="rect">
            <a:avLst/>
          </a:prstGeom>
          <a:solidFill>
            <a:srgbClr val="2F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77824" y="1600200"/>
            <a:ext cx="384048" cy="384048"/>
          </a:xfrm>
          <a:prstGeom prst="ellipse">
            <a:avLst/>
          </a:prstGeom>
          <a:solidFill>
            <a:srgbClr val="2F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1572768"/>
            <a:ext cx="1572768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Farmers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167128"/>
            <a:ext cx="1956816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Season and crop planning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6432" y="141732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621024" y="1600200"/>
            <a:ext cx="384048" cy="384048"/>
          </a:xfrm>
          <a:prstGeom prst="ellipse">
            <a:avLst/>
          </a:prstGeom>
          <a:solidFill>
            <a:srgbClr val="2A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0" y="1572768"/>
            <a:ext cx="1572768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Agricultural Planners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7" y="2167128"/>
            <a:ext cx="1956816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Evidence-based seasonal decisions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141732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364224" y="1600200"/>
            <a:ext cx="384048" cy="384048"/>
          </a:xfrm>
          <a:prstGeom prst="ellipse">
            <a:avLst/>
          </a:prstGeom>
          <a:solidFill>
            <a:srgbClr val="E7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0" y="1572768"/>
            <a:ext cx="1572768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Extension Officers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2167128"/>
            <a:ext cx="1956816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Field advisory support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24612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77824" y="3429000"/>
            <a:ext cx="384048" cy="384048"/>
          </a:xfrm>
          <a:prstGeom prst="ellipse">
            <a:avLst/>
          </a:prstGeom>
          <a:solidFill>
            <a:srgbClr val="2A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71600" y="3401568"/>
            <a:ext cx="1572768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Government / Policy Makers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3995928"/>
            <a:ext cx="1956816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Program and resource planning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56432" y="324612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621024" y="3429000"/>
            <a:ext cx="384048" cy="384048"/>
          </a:xfrm>
          <a:prstGeom prst="ellipse">
            <a:avLst/>
          </a:prstGeom>
          <a:solidFill>
            <a:srgbClr val="2F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0" y="3401568"/>
            <a:ext cx="1572768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Researchers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75887" y="3995928"/>
            <a:ext cx="1956816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Pattern and risk investigation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324612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364224" y="3429000"/>
            <a:ext cx="384048" cy="384048"/>
          </a:xfrm>
          <a:prstGeom prst="ellipse">
            <a:avLst/>
          </a:prstGeom>
          <a:solidFill>
            <a:srgbClr val="E7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0" y="3401568"/>
            <a:ext cx="1572768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Agri-business / Analysts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3995928"/>
            <a:ext cx="1956816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Market and performance insights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5166360"/>
            <a:ext cx="79095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These are potential users of the analytical insights; the supplied dataset does not describe an already-deployed system.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13648" y="644652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6E767E"/>
                </a:solidFill>
                <a:latin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58368" y="384048"/>
            <a:ext cx="84582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Technology Used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969264"/>
            <a:ext cx="960120" cy="64008"/>
          </a:xfrm>
          <a:prstGeom prst="rect">
            <a:avLst/>
          </a:prstGeom>
          <a:solidFill>
            <a:srgbClr val="2F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3232" y="1463040"/>
            <a:ext cx="171907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E1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1645920"/>
            <a:ext cx="142646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2F9D78"/>
                </a:solidFill>
                <a:latin typeface="Arial"/>
              </a:rPr>
              <a:t>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2148840"/>
            <a:ext cx="1426464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6E767E"/>
                </a:solidFill>
                <a:latin typeface="Arial"/>
              </a:rPr>
              <a:t>Core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06624" y="1463040"/>
            <a:ext cx="171907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E1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52928" y="1645920"/>
            <a:ext cx="142646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2A7FB8"/>
                </a:solidFill>
                <a:latin typeface="Arial"/>
              </a:rPr>
              <a:t>Jupyter Notebook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2928" y="2148840"/>
            <a:ext cx="1426464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6E767E"/>
                </a:solidFill>
                <a:latin typeface="Arial"/>
              </a:rPr>
              <a:t>Reproducible workflow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0016" y="1463040"/>
            <a:ext cx="171907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E1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46320" y="1645920"/>
            <a:ext cx="142646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E7A83E"/>
                </a:solidFill>
                <a:latin typeface="Arial"/>
              </a:rPr>
              <a:t>Pandas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148840"/>
            <a:ext cx="1426464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6E767E"/>
                </a:solidFill>
                <a:latin typeface="Arial"/>
              </a:rPr>
              <a:t>Cleaning &amp; aggregation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93408" y="1463040"/>
            <a:ext cx="171907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E1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39712" y="1645920"/>
            <a:ext cx="142646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2A7FB8"/>
                </a:solidFill>
                <a:latin typeface="Arial"/>
              </a:rPr>
              <a:t>NumPy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2148840"/>
            <a:ext cx="1426464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6E767E"/>
                </a:solidFill>
                <a:latin typeface="Arial"/>
              </a:rPr>
              <a:t>Numerical operations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337560"/>
            <a:ext cx="171907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E1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9536" y="3520440"/>
            <a:ext cx="142646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2F9D78"/>
                </a:solidFill>
                <a:latin typeface="Arial"/>
              </a:rPr>
              <a:t>Matplotlib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4023360"/>
            <a:ext cx="1426464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6E767E"/>
                </a:solidFill>
                <a:latin typeface="Arial"/>
              </a:rPr>
              <a:t>Visualizations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06624" y="3337560"/>
            <a:ext cx="171907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E1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52928" y="3520440"/>
            <a:ext cx="142646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2A7FB8"/>
                </a:solidFill>
                <a:latin typeface="Arial"/>
              </a:rPr>
              <a:t>SciPy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2928" y="4023360"/>
            <a:ext cx="1426464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6E767E"/>
                </a:solidFill>
                <a:latin typeface="Arial"/>
              </a:rPr>
              <a:t>Statistical testing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00016" y="3337560"/>
            <a:ext cx="171907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E1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46320" y="3520440"/>
            <a:ext cx="142646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E7A83E"/>
                </a:solidFill>
                <a:latin typeface="Arial"/>
              </a:rPr>
              <a:t>GitHub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023360"/>
            <a:ext cx="1426464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6E767E"/>
                </a:solidFill>
                <a:latin typeface="Arial"/>
              </a:rPr>
              <a:t>Code repository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93408" y="3337560"/>
            <a:ext cx="171907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E1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39712" y="3520440"/>
            <a:ext cx="142646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2F9D78"/>
                </a:solidFill>
                <a:latin typeface="Arial"/>
              </a:rPr>
              <a:t>PowerPoint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4023360"/>
            <a:ext cx="1426464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6E767E"/>
                </a:solidFill>
                <a:latin typeface="Arial"/>
              </a:rPr>
              <a:t>Final presentation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5266944"/>
            <a:ext cx="78181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/>
              </a:rPr>
              <a:t>Complete workflow: Data → Cleaning → Exploration → Statistical Analysis → Insights → Presentation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13648" y="644652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6E767E"/>
                </a:solidFill>
                <a:latin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658368" y="384048"/>
            <a:ext cx="84582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Data Preparation &amp; Quality Checks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969264"/>
            <a:ext cx="960120" cy="64008"/>
          </a:xfrm>
          <a:prstGeom prst="rect">
            <a:avLst/>
          </a:prstGeom>
          <a:solidFill>
            <a:srgbClr val="2F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13232" y="1298448"/>
            <a:ext cx="166420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13232" y="1298448"/>
            <a:ext cx="73152" cy="960120"/>
          </a:xfrm>
          <a:prstGeom prst="rect">
            <a:avLst/>
          </a:prstGeom>
          <a:solidFill>
            <a:srgbClr val="2F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7824" y="1435607"/>
            <a:ext cx="1408176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rial"/>
              </a:rPr>
              <a:t>4,000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1783080"/>
            <a:ext cx="140817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Records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42032" y="1298448"/>
            <a:ext cx="166420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42032" y="1298448"/>
            <a:ext cx="73152" cy="960120"/>
          </a:xfrm>
          <a:prstGeom prst="rect">
            <a:avLst/>
          </a:prstGeom>
          <a:solidFill>
            <a:srgbClr val="2A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06624" y="1435607"/>
            <a:ext cx="1408176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rial"/>
              </a:rPr>
              <a:t>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6624" y="1783080"/>
            <a:ext cx="140817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Variables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1298448"/>
            <a:ext cx="166420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70832" y="1298448"/>
            <a:ext cx="73152" cy="960120"/>
          </a:xfrm>
          <a:prstGeom prst="rect">
            <a:avLst/>
          </a:prstGeom>
          <a:solidFill>
            <a:srgbClr val="E7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35424" y="1435607"/>
            <a:ext cx="1408176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rial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35424" y="1783080"/>
            <a:ext cx="140817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Duplicates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2" y="1298448"/>
            <a:ext cx="166420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99632" y="1298448"/>
            <a:ext cx="73152" cy="960120"/>
          </a:xfrm>
          <a:prstGeom prst="rect">
            <a:avLst/>
          </a:prstGeom>
          <a:solidFill>
            <a:srgbClr val="2A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64224" y="1435607"/>
            <a:ext cx="1408176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rial"/>
              </a:rPr>
              <a:t>120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4224" y="1783080"/>
            <a:ext cx="1408176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Missing cells</a:t>
            </a:r>
          </a:p>
        </p:txBody>
      </p:sp>
      <p:pic>
        <p:nvPicPr>
          <p:cNvPr id="42" name="Picture 41" descr="missing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87168"/>
            <a:ext cx="3886200" cy="1801286"/>
          </a:xfrm>
          <a:prstGeom prst="rect">
            <a:avLst/>
          </a:prstGeom>
        </p:spPr>
      </p:pic>
      <p:pic>
        <p:nvPicPr>
          <p:cNvPr id="43" name="Picture 42" descr="cleaning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2487168"/>
            <a:ext cx="3749039" cy="1892324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713232" y="5175504"/>
            <a:ext cx="7882127" cy="566928"/>
          </a:xfrm>
          <a:prstGeom prst="roundRect">
            <a:avLst/>
          </a:prstGeom>
          <a:solidFill>
            <a:srgbClr val="F3F7F9"/>
          </a:solidFill>
          <a:ln>
            <a:solidFill>
              <a:srgbClr val="F3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77824" y="5340096"/>
            <a:ext cx="7498079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rial"/>
              </a:rPr>
              <a:t>Cleaning: season-median imputation for rainfall/soil moisture; missing yield reconstructed from Production ÷ Farm Area. Final missing values = 0.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13648" y="644652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6E767E"/>
                </a:solidFill>
                <a:latin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658368" y="384048"/>
            <a:ext cx="84582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Results — Seasonal Performance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969264"/>
            <a:ext cx="960120" cy="64008"/>
          </a:xfrm>
          <a:prstGeom prst="rect">
            <a:avLst/>
          </a:prstGeom>
          <a:solidFill>
            <a:srgbClr val="2F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seasonal_y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35024"/>
            <a:ext cx="3858768" cy="1844101"/>
          </a:xfrm>
          <a:prstGeom prst="rect">
            <a:avLst/>
          </a:prstGeom>
        </p:spPr>
      </p:pic>
      <p:pic>
        <p:nvPicPr>
          <p:cNvPr id="34" name="Picture 33" descr="seasonal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335024"/>
            <a:ext cx="3858768" cy="184292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713232" y="4809744"/>
            <a:ext cx="2322576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3232" y="4809744"/>
            <a:ext cx="73152" cy="804672"/>
          </a:xfrm>
          <a:prstGeom prst="rect">
            <a:avLst/>
          </a:prstGeom>
          <a:solidFill>
            <a:srgbClr val="2F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824" y="4946904"/>
            <a:ext cx="2066543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rial"/>
              </a:rPr>
              <a:t>Kharif 5.63 t/ha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" y="5294376"/>
            <a:ext cx="2066543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Highest average yield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0" y="4809744"/>
            <a:ext cx="2322576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0" y="4809744"/>
            <a:ext cx="73152" cy="804672"/>
          </a:xfrm>
          <a:prstGeom prst="rect">
            <a:avLst/>
          </a:prstGeom>
          <a:solidFill>
            <a:srgbClr val="2A7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64992" y="4946904"/>
            <a:ext cx="2066543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rial"/>
              </a:rPr>
              <a:t>Kharif ₹1.79L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64992" y="5294376"/>
            <a:ext cx="2066543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Highest avg. profit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87568" y="4809744"/>
            <a:ext cx="290779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687568" y="4809744"/>
            <a:ext cx="73152" cy="804672"/>
          </a:xfrm>
          <a:prstGeom prst="rect">
            <a:avLst/>
          </a:prstGeom>
          <a:solidFill>
            <a:srgbClr val="E7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852159" y="4946904"/>
            <a:ext cx="26517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rial"/>
              </a:rPr>
              <a:t>Zaid –₹24.8K avg.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59" y="5294376"/>
            <a:ext cx="26517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Weakest economics</a:t>
            </a:r>
          </a:p>
        </p:txBody>
      </p:sp>
      <p:pic>
        <p:nvPicPr>
          <p:cNvPr id="47" name="Picture 46" descr="season_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5696712"/>
            <a:ext cx="1901952" cy="53662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49808" y="5815584"/>
            <a:ext cx="574243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rial"/>
              </a:rPr>
              <a:t>Key takeaway: Kharif leads both yield and profitability; Zaid is negative on average in this dataset.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13648" y="644652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6E767E"/>
                </a:solidFill>
                <a:latin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658368" y="384048"/>
            <a:ext cx="84582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Results — Environment &amp; Resource Efficiency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969264"/>
            <a:ext cx="960120" cy="64008"/>
          </a:xfrm>
          <a:prstGeom prst="rect">
            <a:avLst/>
          </a:prstGeom>
          <a:solidFill>
            <a:srgbClr val="2F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environment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307592"/>
            <a:ext cx="7909560" cy="2565075"/>
          </a:xfrm>
          <a:prstGeom prst="rect">
            <a:avLst/>
          </a:prstGeom>
        </p:spPr>
      </p:pic>
      <p:pic>
        <p:nvPicPr>
          <p:cNvPr id="34" name="Picture 33" descr="water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078224"/>
            <a:ext cx="3931920" cy="1877857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4828032" y="4160520"/>
            <a:ext cx="3749039" cy="1481328"/>
          </a:xfrm>
          <a:prstGeom prst="roundRect">
            <a:avLst/>
          </a:prstGeom>
          <a:solidFill>
            <a:srgbClr val="F3F7F9"/>
          </a:solidFill>
          <a:ln>
            <a:solidFill>
              <a:srgbClr val="F3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47488" y="4352544"/>
            <a:ext cx="1828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2A7FB8"/>
                </a:solidFill>
                <a:latin typeface="Arial"/>
              </a:rPr>
              <a:t>Seasonal profile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681728"/>
            <a:ext cx="3246120" cy="8412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434D57"/>
                </a:solidFill>
                <a:latin typeface="Arial"/>
              </a:defRPr>
            </a:pPr>
            <a:r>
              <a:t>• Kharif: 852 mm rain, 31.2% soil moisture, 54.5% risk</a:t>
            </a:r>
          </a:p>
          <a:p>
            <a:pPr>
              <a:spcAft>
                <a:spcPts val="400"/>
              </a:spcAft>
              <a:defRPr sz="1000">
                <a:solidFill>
                  <a:srgbClr val="434D57"/>
                </a:solidFill>
                <a:latin typeface="Arial"/>
              </a:defRPr>
            </a:pPr>
            <a:r>
              <a:t>• Zaid: hottest (31.0°C), driest, lowest water efficiency</a:t>
            </a:r>
          </a:p>
          <a:p>
            <a:pPr>
              <a:spcAft>
                <a:spcPts val="400"/>
              </a:spcAft>
              <a:defRPr sz="1000">
                <a:solidFill>
                  <a:srgbClr val="434D57"/>
                </a:solidFill>
                <a:latin typeface="Arial"/>
              </a:defRPr>
            </a:pPr>
            <a:r>
              <a:t>• Fertilizer/pesticide use is comparatively stable across seasons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3648" y="644652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6E767E"/>
                </a:solidFill>
                <a:latin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658368" y="384048"/>
            <a:ext cx="84582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Results — Crop × Season &amp; Irrigation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969264"/>
            <a:ext cx="960120" cy="64008"/>
          </a:xfrm>
          <a:prstGeom prst="rect">
            <a:avLst/>
          </a:prstGeom>
          <a:solidFill>
            <a:srgbClr val="2F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top_crop_season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298448"/>
            <a:ext cx="4224528" cy="2186357"/>
          </a:xfrm>
          <a:prstGeom prst="rect">
            <a:avLst/>
          </a:prstGeom>
        </p:spPr>
      </p:pic>
      <p:pic>
        <p:nvPicPr>
          <p:cNvPr id="34" name="Picture 33" descr="irrigation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298448"/>
            <a:ext cx="3584448" cy="1857227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713232" y="5065776"/>
            <a:ext cx="7863840" cy="658368"/>
          </a:xfrm>
          <a:prstGeom prst="roundRect">
            <a:avLst/>
          </a:prstGeom>
          <a:solidFill>
            <a:srgbClr val="F3F7F9"/>
          </a:solidFill>
          <a:ln>
            <a:solidFill>
              <a:srgbClr val="F3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7824" y="5230368"/>
            <a:ext cx="74066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Arial"/>
              </a:rPr>
              <a:t>Kharif Sugarcane: 53.46 t/ha and ~₹10.01L average profit. Drip leads yield/profit in Kharif &amp; Rabi; Sprinkler leads these metrics in Zaid.</a:t>
            </a:r>
          </a:p>
        </p:txBody>
      </p:sp>
      <p:pic>
        <p:nvPicPr>
          <p:cNvPr id="37" name="Picture 36" descr="crop_irrigation_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5742432"/>
            <a:ext cx="1828800" cy="69468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9808" y="5861304"/>
            <a:ext cx="574243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Market value matters: Chilli is highly profitable despite much lower physical yield.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13648" y="644652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6E767E"/>
                </a:solidFill>
                <a:latin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658368" y="384048"/>
            <a:ext cx="84582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Results — Statistical Evidence &amp; Key Insights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969264"/>
            <a:ext cx="960120" cy="64008"/>
          </a:xfrm>
          <a:prstGeom prst="rect">
            <a:avLst/>
          </a:prstGeom>
          <a:solidFill>
            <a:srgbClr val="2F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13232" y="1325880"/>
            <a:ext cx="38862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1536192"/>
            <a:ext cx="32918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2A7FB8"/>
                </a:solidFill>
                <a:latin typeface="Arial"/>
              </a:rPr>
              <a:t>Kruskal–Wallis Seasonal 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1956816"/>
            <a:ext cx="14630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6E767E"/>
                </a:solidFill>
                <a:latin typeface="Arial"/>
              </a:rPr>
              <a:t>Metric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1956816"/>
            <a:ext cx="5943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E767E"/>
                </a:solidFill>
                <a:latin typeface="Arial"/>
              </a:rPr>
              <a:t>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64992" y="1956816"/>
            <a:ext cx="914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E767E"/>
                </a:solidFill>
                <a:latin typeface="Arial"/>
              </a:rPr>
              <a:t>p-value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2286000"/>
            <a:ext cx="1536192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Yield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2286000"/>
            <a:ext cx="713232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Arial"/>
              </a:rPr>
              <a:t>70.59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2286000"/>
            <a:ext cx="877824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2F9D78"/>
                </a:solidFill>
                <a:latin typeface="Arial"/>
              </a:rPr>
              <a:t>&lt;0.001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2779776"/>
            <a:ext cx="1536192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Profit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2779776"/>
            <a:ext cx="713232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Arial"/>
              </a:rPr>
              <a:t>101.93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2779776"/>
            <a:ext cx="877824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2F9D78"/>
                </a:solidFill>
                <a:latin typeface="Arial"/>
              </a:rPr>
              <a:t>&lt;0.001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3273552"/>
            <a:ext cx="1536192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Water efficiency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3273552"/>
            <a:ext cx="713232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Arial"/>
              </a:rPr>
              <a:t>56.81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3273552"/>
            <a:ext cx="877824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2F9D78"/>
                </a:solidFill>
                <a:latin typeface="Arial"/>
              </a:rPr>
              <a:t>&lt;0.001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" y="3767328"/>
            <a:ext cx="1536192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Disease/pest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0320" y="3767328"/>
            <a:ext cx="713232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Arial"/>
              </a:rPr>
              <a:t>1430.91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3767328"/>
            <a:ext cx="877824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2F9D78"/>
                </a:solidFill>
                <a:latin typeface="Arial"/>
              </a:rPr>
              <a:t>&lt;0.001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" y="4142232"/>
            <a:ext cx="32461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F9D78"/>
                </a:solidFill>
                <a:latin typeface="Arial"/>
              </a:rPr>
              <a:t>All four seasonal differences are statistically significant at α = 0.05.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18888" y="1325880"/>
            <a:ext cx="3767328" cy="3246120"/>
          </a:xfrm>
          <a:prstGeom prst="roundRect">
            <a:avLst/>
          </a:prstGeom>
          <a:solidFill>
            <a:srgbClr val="F3F7F9"/>
          </a:solidFill>
          <a:ln>
            <a:solidFill>
              <a:srgbClr val="F3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38344" y="1536192"/>
            <a:ext cx="3246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2F9D78"/>
                </a:solidFill>
                <a:latin typeface="Arial"/>
              </a:rPr>
              <a:t>Relationships &amp; Interpretation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38344" y="1993392"/>
            <a:ext cx="3182112" cy="21488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34D57"/>
                </a:solidFill>
                <a:latin typeface="Arial"/>
              </a:defRPr>
            </a:pPr>
            <a:r>
              <a:t>• Yield ↔ Water efficiency: r = 0.916</a:t>
            </a:r>
          </a:p>
          <a:p>
            <a:pPr>
              <a:spcAft>
                <a:spcPts val="600"/>
              </a:spcAft>
              <a:defRPr sz="1100">
                <a:solidFill>
                  <a:srgbClr val="434D57"/>
                </a:solidFill>
                <a:latin typeface="Arial"/>
              </a:defRPr>
            </a:pPr>
            <a:r>
              <a:t>• Yield ↔ Profit: r = 0.490</a:t>
            </a:r>
          </a:p>
          <a:p>
            <a:pPr>
              <a:spcAft>
                <a:spcPts val="600"/>
              </a:spcAft>
              <a:defRPr sz="1100">
                <a:solidFill>
                  <a:srgbClr val="434D57"/>
                </a:solidFill>
                <a:latin typeface="Arial"/>
              </a:defRPr>
            </a:pPr>
            <a:r>
              <a:t>• Yield ↔ Rainfall overall: r = 0.027</a:t>
            </a:r>
          </a:p>
          <a:p>
            <a:pPr>
              <a:spcAft>
                <a:spcPts val="600"/>
              </a:spcAft>
              <a:defRPr sz="1100">
                <a:solidFill>
                  <a:srgbClr val="434D57"/>
                </a:solidFill>
                <a:latin typeface="Arial"/>
              </a:defRPr>
            </a:pPr>
            <a:r>
              <a:t>• Seasonal averages are influenced by crop mix; use crop-level context</a:t>
            </a:r>
          </a:p>
          <a:p>
            <a:pPr>
              <a:spcAft>
                <a:spcPts val="600"/>
              </a:spcAft>
              <a:defRPr sz="1100">
                <a:solidFill>
                  <a:srgbClr val="434D57"/>
                </a:solidFill>
                <a:latin typeface="Arial"/>
              </a:defRPr>
            </a:pPr>
            <a:r>
              <a:t>• Correlation indicates association, not causation</a:t>
            </a:r>
          </a:p>
        </p:txBody>
      </p:sp>
      <p:pic>
        <p:nvPicPr>
          <p:cNvPr id="54" name="Picture 53" descr="stats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773168"/>
            <a:ext cx="3547872" cy="145412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809744" y="4864608"/>
            <a:ext cx="164592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2A7FB8"/>
                </a:solidFill>
                <a:latin typeface="Arial"/>
              </a:rPr>
              <a:t>Planning implication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09744" y="5230368"/>
            <a:ext cx="3712463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Balance yield + profitability + water efficiency + pest/disease risk rather than optimizing yield alone.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13648" y="644652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6E767E"/>
                </a:solidFill>
                <a:latin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658368" y="384048"/>
            <a:ext cx="84582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Future Scope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969264"/>
            <a:ext cx="960120" cy="64008"/>
          </a:xfrm>
          <a:prstGeom prst="rect">
            <a:avLst/>
          </a:prstGeom>
          <a:solidFill>
            <a:srgbClr val="2F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13232" y="1335024"/>
            <a:ext cx="361188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1490472"/>
            <a:ext cx="3182112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2F9D78"/>
                </a:solidFill>
                <a:latin typeface="Arial"/>
              </a:rPr>
              <a:t>Multi-year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837943"/>
            <a:ext cx="32004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Separate one-season effects from long-term climate and market trends.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45152" y="1335024"/>
            <a:ext cx="361188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09744" y="1490472"/>
            <a:ext cx="3182112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2A7FB8"/>
                </a:solidFill>
                <a:latin typeface="Arial"/>
              </a:rPr>
              <a:t>Weather + satellite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9744" y="1837943"/>
            <a:ext cx="32004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Add real-time rainfall, temperature, vegetation, and soil indicators.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2761488"/>
            <a:ext cx="361188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" y="2916936"/>
            <a:ext cx="3182112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E7A83E"/>
                </a:solidFill>
                <a:latin typeface="Arial"/>
              </a:rPr>
              <a:t>Predictive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" y="3264408"/>
            <a:ext cx="32004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Forecast yield, profit, water demand, and pest/disease risk.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45152" y="2761488"/>
            <a:ext cx="361188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09744" y="2916936"/>
            <a:ext cx="3182112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2A7FB8"/>
                </a:solidFill>
                <a:latin typeface="Arial"/>
              </a:rPr>
              <a:t>Regional recommendations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9744" y="3264408"/>
            <a:ext cx="32004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Build state/district/crop-specific planning guidance.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4187952"/>
            <a:ext cx="361188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7824" y="4343400"/>
            <a:ext cx="3182112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2F9D78"/>
                </a:solidFill>
                <a:latin typeface="Arial"/>
              </a:rPr>
              <a:t>Interactive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" y="4690872"/>
            <a:ext cx="32004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Enable decision-makers to filter season, crop, region, and irrigation.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45152" y="4187952"/>
            <a:ext cx="361188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09744" y="4343400"/>
            <a:ext cx="3182112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E7A83E"/>
                </a:solidFill>
                <a:latin typeface="Arial"/>
              </a:rPr>
              <a:t>Scenario analysis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9744" y="4690872"/>
            <a:ext cx="32004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Test changes in market price, input cost, rainfall, and climate conditions.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13648" y="644652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6E767E"/>
                </a:solidFill>
                <a:latin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658368" y="384048"/>
            <a:ext cx="84582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GitHub Repository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969264"/>
            <a:ext cx="960120" cy="64008"/>
          </a:xfrm>
          <a:prstGeom prst="rect">
            <a:avLst/>
          </a:prstGeom>
          <a:solidFill>
            <a:srgbClr val="2F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13232" y="1417320"/>
            <a:ext cx="7863840" cy="941832"/>
          </a:xfrm>
          <a:prstGeom prst="roundRect">
            <a:avLst/>
          </a:prstGeom>
          <a:solidFill>
            <a:srgbClr val="F3F7F9"/>
          </a:solidFill>
          <a:ln>
            <a:solidFill>
              <a:srgbClr val="F3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1636776"/>
            <a:ext cx="7269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rial"/>
              </a:rPr>
              <a:t>Add your repository URL here after uploading the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1993392"/>
            <a:ext cx="726948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lang="en-IN" sz="1100" dirty="0">
                <a:hlinkClick r:id="rId2"/>
              </a:rPr>
              <a:t>prasadgh400-cmyk/Seasonal-Agriculture-Performance-Analysis</a:t>
            </a:r>
            <a:endParaRPr sz="1100" b="0" dirty="0">
              <a:solidFill>
                <a:srgbClr val="2A7FB8"/>
              </a:solidFill>
              <a:latin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613648" y="644652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6E767E"/>
                </a:solidFill>
                <a:latin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658368" y="384048"/>
            <a:ext cx="84582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VOIS Course Completion Certificate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969264"/>
            <a:ext cx="960120" cy="64008"/>
          </a:xfrm>
          <a:prstGeom prst="rect">
            <a:avLst/>
          </a:prstGeom>
          <a:solidFill>
            <a:srgbClr val="2F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55648" y="914400"/>
            <a:ext cx="71323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E767E"/>
                </a:solidFill>
                <a:latin typeface="Arial"/>
              </a:rPr>
              <a:t>Course: Data Visualization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87215" y="1498145"/>
            <a:ext cx="5551468" cy="3927805"/>
          </a:xfrm>
          <a:prstGeom prst="rect">
            <a:avLst/>
          </a:prstGeom>
          <a:solidFill>
            <a:srgbClr val="FFFFFF"/>
          </a:solidFill>
          <a:ln>
            <a:solidFill>
              <a:srgbClr val="B4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2816352"/>
            <a:ext cx="49834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400" b="1" dirty="0">
                <a:solidFill>
                  <a:srgbClr val="6E767E"/>
                </a:solidFill>
                <a:latin typeface="Arial"/>
              </a:rPr>
              <a:t>INSERT CERTIFICATE HERE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644652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6E767E"/>
                </a:solidFill>
                <a:latin typeface="Arial"/>
              </a:rPr>
              <a:t>13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A26BDA-7F9A-7605-FD6D-37F10A630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214" y="1498146"/>
            <a:ext cx="5551468" cy="392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/>
          <p:cNvSpPr txBox="1"/>
          <p:nvPr/>
        </p:nvSpPr>
        <p:spPr>
          <a:xfrm>
            <a:off x="749808" y="1024128"/>
            <a:ext cx="704088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3800" b="1">
                <a:solidFill>
                  <a:srgbClr val="1F2937"/>
                </a:solidFill>
                <a:latin typeface="Arial"/>
              </a:rPr>
              <a:t>Thank You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" y="1920240"/>
            <a:ext cx="6400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900" b="1">
                <a:solidFill>
                  <a:srgbClr val="2A7FB8"/>
                </a:solidFill>
                <a:latin typeface="Arial"/>
              </a:rPr>
              <a:t>Seasonal Agriculture Performance Analysis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34440" y="2615184"/>
            <a:ext cx="6108192" cy="1170432"/>
          </a:xfrm>
          <a:prstGeom prst="roundRect">
            <a:avLst/>
          </a:prstGeom>
          <a:solidFill>
            <a:srgbClr val="F3F7F9"/>
          </a:solidFill>
          <a:ln>
            <a:solidFill>
              <a:srgbClr val="F3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463040" y="2798064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2F9D78"/>
                </a:solidFill>
                <a:latin typeface="Arial"/>
              </a:rPr>
              <a:t>Final takeaway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3127248"/>
            <a:ext cx="5486400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Arial"/>
              </a:rPr>
              <a:t>Better seasonal planning balances yield, profitability, water efficiency, and agricultural risk.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34440" y="4754880"/>
            <a:ext cx="6108192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IN" sz="1200" dirty="0">
                <a:solidFill>
                  <a:srgbClr val="6E767E"/>
                </a:solidFill>
                <a:latin typeface="Arial"/>
              </a:rPr>
              <a:t>Sumant Prashant Ghantewar </a:t>
            </a:r>
            <a:r>
              <a:rPr sz="1200" b="0" dirty="0">
                <a:solidFill>
                  <a:srgbClr val="6E767E"/>
                </a:solidFill>
                <a:latin typeface="Arial"/>
              </a:rPr>
              <a:t>| </a:t>
            </a:r>
            <a:r>
              <a:rPr lang="en-IN" sz="1200" dirty="0">
                <a:solidFill>
                  <a:srgbClr val="434D57"/>
                </a:solidFill>
                <a:latin typeface="Arial"/>
              </a:rPr>
              <a:t>Central University of Andhra Pradesh</a:t>
            </a:r>
            <a:r>
              <a:rPr sz="1200" b="0" dirty="0">
                <a:solidFill>
                  <a:srgbClr val="6E767E"/>
                </a:solidFill>
                <a:latin typeface="Arial"/>
              </a:rPr>
              <a:t>  |  AICTE STU ID: </a:t>
            </a:r>
            <a:r>
              <a:rPr lang="en-IN" sz="1200" dirty="0">
                <a:solidFill>
                  <a:srgbClr val="6E767E"/>
                </a:solidFill>
                <a:latin typeface="Arial"/>
              </a:rPr>
              <a:t>STU69e4ae330f40d1776594483</a:t>
            </a:r>
            <a:endParaRPr sz="1200" b="0" dirty="0">
              <a:solidFill>
                <a:srgbClr val="6E767E"/>
              </a:solidFill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613648" y="6446520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6E767E"/>
                </a:solidFill>
                <a:latin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1637</TotalTime>
  <Words>818</Words>
  <Application>Microsoft Office PowerPoint</Application>
  <PresentationFormat>Widescreen</PresentationFormat>
  <Paragraphs>166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sumant ghantewar</cp:lastModifiedBy>
  <cp:revision>100</cp:revision>
  <dcterms:created xsi:type="dcterms:W3CDTF">2021-07-11T13:13:15Z</dcterms:created>
  <dcterms:modified xsi:type="dcterms:W3CDTF">2026-09-10T17:01:26Z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